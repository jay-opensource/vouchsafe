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074920"/>
            <a:ext cx="12191695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777240"/>
            <a:ext cx="155448" cy="15544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78992" y="777240"/>
            <a:ext cx="155448" cy="15544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35024" y="777240"/>
            <a:ext cx="155448" cy="15544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37360" y="658368"/>
            <a:ext cx="82296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500" b="0">
                <a:solidFill>
                  <a:srgbClr val="9AA4B2"/>
                </a:solidFill>
                <a:latin typeface="Consolas"/>
              </a:rPr>
              <a:t>:~$ </a:t>
            </a:r>
            <a:r>
              <a:rPr sz="1500" b="0">
                <a:solidFill>
                  <a:srgbClr val="E8ECF1"/>
                </a:solidFill>
                <a:latin typeface="Consolas"/>
              </a:rPr>
              <a:t>./vouchsafe serve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1463040"/>
            <a:ext cx="10515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5EEAD4"/>
                </a:solidFill>
                <a:latin typeface="Consolas"/>
              </a:rPr>
              <a:t>ZERO DEPENDENCY HACKATHON 2026  ·  TRACK E — SECURITY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1874519"/>
            <a:ext cx="7315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400" b="1">
                <a:solidFill>
                  <a:srgbClr val="FFFFFF"/>
                </a:solidFill>
                <a:latin typeface="Segoe UI"/>
              </a:rPr>
              <a:t>vouchsafe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703320"/>
            <a:ext cx="96012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0">
                <a:solidFill>
                  <a:srgbClr val="C3CCDA"/>
                </a:solidFill>
                <a:latin typeface="Segoe UI"/>
              </a:rPr>
              <a:t>Add passkey login to any application.</a:t>
            </a:r>
          </a:p>
          <a:p>
            <a:pPr algn="l">
              <a:lnSpc>
                <a:spcPct val="115000"/>
              </a:lnSpc>
            </a:pPr>
            <a:r>
              <a:rPr sz="2100" b="0">
                <a:solidFill>
                  <a:srgbClr val="C3CCDA"/>
                </a:solidFill>
                <a:latin typeface="Segoe UI"/>
              </a:rPr>
              <a:t>One binary, no dependencies, no passwords stored — because there are none.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394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Team Neural Knights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4B2"/>
                </a:solidFill>
                <a:latin typeface="Consolas"/>
              </a:rPr>
              <a:t>github.com/jay-opensource/Vouchsafe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~/problem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02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the-problem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Every WebAuthn library felt mandatory. It wasn't.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57400"/>
            <a:ext cx="1115568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200"/>
              </a:spcAft>
            </a:pPr>
            <a:r>
              <a:rPr sz="1700" b="1">
                <a:solidFill>
                  <a:srgbClr val="5EEAD4"/>
                </a:solidFill>
                <a:latin typeface="Consolas"/>
              </a:rPr>
              <a:t>•  go-webauthn/webauthn</a:t>
            </a:r>
            <a:r>
              <a:rPr sz="1700" b="0">
                <a:solidFill>
                  <a:srgbClr val="E8ECF1"/>
                </a:solidFill>
                <a:latin typeface="Segoe UI"/>
              </a:rPr>
              <a:t>  —  the standard choice, but drags fxamacker/cbor along, chosen upstream because it "doesn't crash."</a:t>
            </a:r>
          </a:p>
          <a:p>
            <a:pPr>
              <a:spcAft>
                <a:spcPts val="2200"/>
              </a:spcAft>
            </a:pPr>
            <a:r>
              <a:rPr sz="1700" b="1">
                <a:solidFill>
                  <a:srgbClr val="5EEAD4"/>
                </a:solidFill>
                <a:latin typeface="Consolas"/>
              </a:rPr>
              <a:t>•  duo-labs/webauthn / fxamacker/webauthn</a:t>
            </a:r>
            <a:r>
              <a:rPr sz="1700" b="0">
                <a:solidFill>
                  <a:srgbClr val="E8ECF1"/>
                </a:solidFill>
                <a:latin typeface="Segoe UI"/>
              </a:rPr>
              <a:t>  —  the same dependency, smaller adoption.</a:t>
            </a:r>
          </a:p>
          <a:p>
            <a:pPr>
              <a:spcAft>
                <a:spcPts val="2200"/>
              </a:spcAft>
            </a:pPr>
            <a:r>
              <a:rPr sz="1700" b="1">
                <a:solidFill>
                  <a:srgbClr val="E8ECF1"/>
                </a:solidFill>
                <a:latin typeface="Segoe UI"/>
              </a:rPr>
              <a:t>•  Hand-rolling it yourself</a:t>
            </a:r>
            <a:r>
              <a:rPr sz="1700" b="0">
                <a:solidFill>
                  <a:srgbClr val="E8ECF1"/>
                </a:solidFill>
                <a:latin typeface="Segoe UI"/>
              </a:rPr>
              <a:t>  —  the instinct — and exactly where algorithm-confusion or counter-regression bugs quietly slip in when nobody's watching for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9496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9AA4B2"/>
                </a:solidFill>
                <a:latin typeface="Consolas"/>
              </a:rPr>
              <a:t>$ the_gap  </a:t>
            </a:r>
            <a:r>
              <a:rPr sz="1500" b="0">
                <a:solidFill>
                  <a:srgbClr val="5EEAD4"/>
                </a:solidFill>
                <a:latin typeface="Segoe UI"/>
              </a:rPr>
              <a:t>→  a full relying-party server, hand-written down to the CBOR decoder, with a 16-case adversarial test suite proving it enforces every check the library would have.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~/intro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03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introducing-vouchsafe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Three lines. No manifest.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659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6EFAC"/>
                </a:solidFill>
                <a:latin typeface="Consolas"/>
              </a:rPr>
              <a:t>go build ./cmd/vouchsafe &amp;&amp; ./vouchsafe 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606040"/>
            <a:ext cx="1115568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ES256, RS256, and EdDSA passwordless login, each verified correctly for its own signing rule</a:t>
            </a:r>
          </a:p>
          <a:p>
            <a:pPr>
              <a:spcAft>
                <a:spcPts val="12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Usernameless / discoverable login — no username required, the browser offers every resident credential</a:t>
            </a:r>
          </a:p>
          <a:p>
            <a:pPr>
              <a:spcAft>
                <a:spcPts val="12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none and packed attestation, self- and full (x5c)</a:t>
            </a:r>
          </a:p>
          <a:p>
            <a:pPr>
              <a:spcAft>
                <a:spcPts val="12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Credential management (list, revoke, nicknames) + a per-ceremony UV policy override that can only tighten, never loosen</a:t>
            </a:r>
          </a:p>
          <a:p>
            <a:pPr>
              <a:spcAft>
                <a:spcPts val="12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Self-signed TLS for non-loopback demos, fingerprint printed at startup</a:t>
            </a:r>
          </a:p>
          <a:p>
            <a:pPr>
              <a:spcAft>
                <a:spcPts val="12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Every ceremony, every CBOR byte, hand-written against the Go standard library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EEAD4"/>
                </a:solidFill>
                <a:latin typeface="Consolas"/>
              </a:rPr>
              <a:t>Go 1.25+</a:t>
            </a:r>
            <a:r>
              <a:rPr sz="1200" b="0">
                <a:solidFill>
                  <a:srgbClr val="9AA4B2"/>
                </a:solidFill>
                <a:latin typeface="Consolas"/>
              </a:rPr>
              <a:t>   ·   </a:t>
            </a:r>
            <a:r>
              <a:rPr sz="1200" b="1">
                <a:solidFill>
                  <a:srgbClr val="5EEAD4"/>
                </a:solidFill>
                <a:latin typeface="Consolas"/>
              </a:rPr>
              <a:t>dependencies: zero</a:t>
            </a:r>
            <a:r>
              <a:rPr sz="1200" b="0">
                <a:solidFill>
                  <a:srgbClr val="9AA4B2"/>
                </a:solidFill>
                <a:latin typeface="Consolas"/>
              </a:rPr>
              <a:t>   ·   </a:t>
            </a:r>
            <a:r>
              <a:rPr sz="1200" b="1">
                <a:solidFill>
                  <a:srgbClr val="5EEAD4"/>
                </a:solidFill>
                <a:latin typeface="Consolas"/>
              </a:rPr>
              <a:t>Track 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~/demo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04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live-demo — real output, not mockups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Real requests. Real rejections.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1965960"/>
            <a:ext cx="5394960" cy="3246120"/>
          </a:xfrm>
          <a:prstGeom prst="rect">
            <a:avLst/>
          </a:prstGeom>
          <a:solidFill>
            <a:srgbClr val="08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03120"/>
            <a:ext cx="5074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9AA4B2"/>
                </a:solidFill>
                <a:latin typeface="Consolas"/>
              </a:rPr>
              <a:t>$ curl -s -X POST localhost:8080/register/begin \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9AA4B2"/>
                </a:solidFill>
                <a:latin typeface="Consolas"/>
              </a:rPr>
              <a:t>    -d '{"username":"bob"}'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E8ECF1"/>
                </a:solidFill>
                <a:latin typeface="Consolas"/>
              </a:rPr>
              <a:t>{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E8ECF1"/>
                </a:solidFill>
                <a:latin typeface="Consolas"/>
              </a:rPr>
              <a:t>  "challenge": "e4GiLuCwma03kXpa2Kg6R4Zf...",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E8ECF1"/>
                </a:solidFill>
                <a:latin typeface="Consolas"/>
              </a:rPr>
              <a:t>  "authenticatorSelection": {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E8ECF1"/>
                </a:solidFill>
                <a:latin typeface="Consolas"/>
              </a:rPr>
              <a:t>    "residentKey": "required" }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E8ECF1"/>
                </a:solidFill>
                <a:latin typeface="Consolas"/>
              </a:rPr>
              <a:t>}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86EFAC"/>
                </a:solidFill>
                <a:latin typeface="Consolas"/>
              </a:rPr>
              <a:t>HTTP 204 — credential stored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86EFAC"/>
                </a:solidFill>
                <a:latin typeface="Consolas"/>
              </a:rPr>
              <a:t>(algorithm -257, RS256)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965960"/>
            <a:ext cx="5394960" cy="3246120"/>
          </a:xfrm>
          <a:prstGeom prst="rect">
            <a:avLst/>
          </a:prstGeom>
          <a:solidFill>
            <a:srgbClr val="080A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103120"/>
            <a:ext cx="50749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9AA4B2"/>
                </a:solidFill>
                <a:latin typeface="Consolas"/>
              </a:rPr>
              <a:t>$ go test -v ./tests/negative/...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86EFAC"/>
                </a:solidFill>
                <a:latin typeface="Consolas"/>
              </a:rPr>
              <a:t>--- PASS: TestOriginSuffixAttack_Rejected (0.01s)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86EFAC"/>
                </a:solidFill>
                <a:latin typeface="Consolas"/>
              </a:rPr>
              <a:t>--- PASS: TestAssertionResignedUnderAnother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86EFAC"/>
                </a:solidFill>
                <a:latin typeface="Consolas"/>
              </a:rPr>
              <a:t>    Algorithm_Rejected (0.10s)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86EFAC"/>
                </a:solidFill>
                <a:latin typeface="Consolas"/>
              </a:rPr>
              <a:t>--- PASS: TestSignCountDecremented_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86EFAC"/>
                </a:solidFill>
                <a:latin typeface="Consolas"/>
              </a:rPr>
              <a:t>    RejectedAsClone (0.01s)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86EFAC"/>
                </a:solidFill>
                <a:latin typeface="Consolas"/>
              </a:rPr>
              <a:t>--- PASS: TestNonCanonicalCBOR_Rejected (0.00s)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5EEAD4"/>
                </a:solidFill>
                <a:latin typeface="Consolas"/>
              </a:rPr>
              <a:t>PASS  (16/16)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40680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CF1"/>
                </a:solidFill>
                <a:latin typeface="Segoe UI"/>
              </a:rPr>
              <a:t>Sixteen named security defects. Every one explicitly rejected — never a silent pass.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~/architecture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05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how-a-ceremony-flows-through-vouchsafe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Every byte checked once, in order.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2015" y="2468880"/>
            <a:ext cx="1298448" cy="11887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735" y="2514600"/>
            <a:ext cx="12070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CF1"/>
                </a:solidFill>
                <a:latin typeface="Segoe UI"/>
              </a:rPr>
              <a:t>Browser</a:t>
            </a:r>
          </a:p>
          <a:p>
            <a:pPr algn="ctr"/>
            <a:r>
              <a:rPr sz="1100" b="0">
                <a:solidFill>
                  <a:srgbClr val="9AA4B2"/>
                </a:solidFill>
                <a:latin typeface="Segoe UI"/>
              </a:rPr>
              <a:t>(create/get)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80463" y="2468880"/>
            <a:ext cx="10972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EEAD4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971903" y="2468880"/>
            <a:ext cx="1298448" cy="11887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7623" y="2514600"/>
            <a:ext cx="12070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CF1"/>
                </a:solidFill>
                <a:latin typeface="Segoe UI"/>
              </a:rPr>
              <a:t>clientDataJSON</a:t>
            </a:r>
          </a:p>
          <a:p>
            <a:pPr algn="ctr"/>
            <a:r>
              <a:rPr sz="1100" b="0">
                <a:solidFill>
                  <a:srgbClr val="9AA4B2"/>
                </a:solidFill>
                <a:latin typeface="Segoe UI"/>
              </a:rPr>
              <a:t>+ attObj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70351" y="2468880"/>
            <a:ext cx="10972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EEAD4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61791" y="2468880"/>
            <a:ext cx="1298448" cy="11887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07511" y="2514600"/>
            <a:ext cx="12070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CF1"/>
                </a:solidFill>
                <a:latin typeface="Segoe UI"/>
              </a:rPr>
              <a:t>CBOR decode</a:t>
            </a:r>
          </a:p>
          <a:p>
            <a:pPr algn="ctr"/>
            <a:r>
              <a:rPr sz="1100" b="0">
                <a:solidFill>
                  <a:srgbClr val="9AA4B2"/>
                </a:solidFill>
                <a:latin typeface="Segoe UI"/>
              </a:rPr>
              <a:t>(canonical, capped)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0239" y="2468880"/>
            <a:ext cx="10972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EEAD4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1679" y="2468880"/>
            <a:ext cx="1298448" cy="11887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97399" y="2514600"/>
            <a:ext cx="12070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CF1"/>
                </a:solidFill>
                <a:latin typeface="Segoe UI"/>
              </a:rPr>
              <a:t>COSE_Key</a:t>
            </a:r>
          </a:p>
          <a:p>
            <a:pPr algn="ctr"/>
            <a:r>
              <a:rPr sz="1100" b="0">
                <a:solidFill>
                  <a:srgbClr val="9AA4B2"/>
                </a:solidFill>
                <a:latin typeface="Segoe UI"/>
              </a:rPr>
              <a:t>parse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0127" y="2468880"/>
            <a:ext cx="10972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EEAD4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1567" y="2468880"/>
            <a:ext cx="1298448" cy="11887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7287" y="2514600"/>
            <a:ext cx="12070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CF1"/>
                </a:solidFill>
                <a:latin typeface="Segoe UI"/>
              </a:rPr>
              <a:t>authData parse</a:t>
            </a:r>
          </a:p>
          <a:p>
            <a:pPr algn="ctr"/>
            <a:r>
              <a:rPr sz="1100" b="0">
                <a:solidFill>
                  <a:srgbClr val="9AA4B2"/>
                </a:solidFill>
                <a:latin typeface="Segoe UI"/>
              </a:rPr>
              <a:t>(rpIdHash, flags,</a:t>
            </a:r>
          </a:p>
          <a:p>
            <a:pPr algn="ctr"/>
            <a:r>
              <a:rPr sz="1100" b="0">
                <a:solidFill>
                  <a:srgbClr val="9AA4B2"/>
                </a:solidFill>
                <a:latin typeface="Segoe UI"/>
              </a:rPr>
              <a:t>counter)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40015" y="2468880"/>
            <a:ext cx="10972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EEAD4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531455" y="2468880"/>
            <a:ext cx="1298448" cy="11887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77175" y="2514600"/>
            <a:ext cx="12070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CF1"/>
                </a:solidFill>
                <a:latin typeface="Segoe UI"/>
              </a:rPr>
              <a:t>policy checks</a:t>
            </a:r>
          </a:p>
          <a:p>
            <a:pPr algn="ctr"/>
            <a:r>
              <a:rPr sz="1100" b="0">
                <a:solidFill>
                  <a:srgbClr val="9AA4B2"/>
                </a:solidFill>
                <a:latin typeface="Segoe UI"/>
              </a:rPr>
              <a:t>(origin, UP/UV)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9903" y="2468880"/>
            <a:ext cx="10972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EEAD4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21343" y="2468880"/>
            <a:ext cx="1298448" cy="11887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7063" y="2514600"/>
            <a:ext cx="12070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CF1"/>
                </a:solidFill>
                <a:latin typeface="Segoe UI"/>
              </a:rPr>
              <a:t>attestation</a:t>
            </a:r>
          </a:p>
          <a:p>
            <a:pPr algn="ctr"/>
            <a:r>
              <a:rPr sz="1100" b="0">
                <a:solidFill>
                  <a:srgbClr val="9AA4B2"/>
                </a:solidFill>
                <a:latin typeface="Segoe UI"/>
              </a:rPr>
              <a:t>verify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19791" y="2468880"/>
            <a:ext cx="109728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5EEAD4"/>
                </a:solidFill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311231" y="2468880"/>
            <a:ext cx="1298448" cy="11887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56951" y="2514600"/>
            <a:ext cx="1207007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8ECF1"/>
                </a:solidFill>
                <a:latin typeface="Segoe UI"/>
              </a:rPr>
              <a:t>store</a:t>
            </a:r>
          </a:p>
          <a:p>
            <a:pPr algn="ctr"/>
            <a:r>
              <a:rPr sz="1100" b="0">
                <a:solidFill>
                  <a:srgbClr val="9AA4B2"/>
                </a:solidFill>
                <a:latin typeface="Segoe UI"/>
              </a:rPr>
              <a:t>(pubkey + counter)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4206240"/>
            <a:ext cx="111556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E8ECF1"/>
                </a:solidFill>
                <a:latin typeface="Segoe UI"/>
              </a:rPr>
              <a:t>Raw signature verification: </a:t>
            </a:r>
            <a:r>
              <a:rPr sz="1600" b="1">
                <a:solidFill>
                  <a:srgbClr val="5EEAD4"/>
                </a:solidFill>
                <a:latin typeface="Consolas"/>
              </a:rPr>
              <a:t>26–62µs</a:t>
            </a:r>
            <a:r>
              <a:rPr sz="1600" b="0">
                <a:solidFill>
                  <a:srgbClr val="E8ECF1"/>
                </a:solidFill>
                <a:latin typeface="Segoe UI"/>
              </a:rPr>
              <a:t> regardless of algorithm. A full </a:t>
            </a:r>
            <a:r>
              <a:rPr sz="1600" b="1">
                <a:solidFill>
                  <a:srgbClr val="5EEAD4"/>
                </a:solidFill>
                <a:latin typeface="Consolas"/>
              </a:rPr>
              <a:t>Login()</a:t>
            </a:r>
            <a:r>
              <a:rPr sz="1600" b="0">
                <a:solidFill>
                  <a:srgbClr val="E8ECF1"/>
                </a:solidFill>
                <a:latin typeface="Segoe UI"/>
              </a:rPr>
              <a:t> call: </a:t>
            </a:r>
            <a:r>
              <a:rPr sz="1600" b="1">
                <a:solidFill>
                  <a:srgbClr val="5EEAD4"/>
                </a:solidFill>
                <a:latin typeface="Consolas"/>
              </a:rPr>
              <a:t>~9ms</a:t>
            </a:r>
            <a:r>
              <a:rPr sz="1600" b="0">
                <a:solidFill>
                  <a:srgbClr val="E8ECF1"/>
                </a:solidFill>
                <a:latin typeface="Segoe UI"/>
              </a:rPr>
              <a:t> — almost entirely the fsync'd atomic write, not the cryptography.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~/signing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06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innovation — signing correctness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EdDSA doesn't get pre-hashed. Getting this wrong breaks verification silently.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103120"/>
            <a:ext cx="11155680" cy="137160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267712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EEAD4"/>
                </a:solidFill>
                <a:latin typeface="Consolas"/>
              </a:rPr>
              <a:t>ECDSA / RSA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97479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E8ECF1"/>
                </a:solidFill>
                <a:latin typeface="Segoe UI"/>
              </a:rPr>
              <a:t>Hash with SHA-256, then sign the digest.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703320"/>
            <a:ext cx="11155680" cy="137160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6791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5EEAD4"/>
                </a:solidFill>
                <a:latin typeface="Consolas"/>
              </a:rPr>
              <a:t>EdDSA (Ed25519)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297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E8ECF1"/>
                </a:solidFill>
                <a:latin typeface="Segoe UI"/>
              </a:rPr>
              <a:t>Sign the raw message directly — it hashes internally with SHA-512. Handing it a pre-hashed digest produces a signature no real authenticator would generate.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48640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A4B2"/>
                </a:solidFill>
                <a:latin typeface="Segoe UI"/>
              </a:rPr>
              <a:t>A common, dangerous mistake — treating Ed25519 like the other two. Verified correct here, tested per algorithm.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~/security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07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innovation — adversarial test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One deliberate mutation per named defect. Sixteen cases.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11155680" cy="31089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2000"/>
              </a:spcAft>
            </a:pPr>
            <a:r>
              <a:rPr sz="1650" b="1">
                <a:solidFill>
                  <a:srgbClr val="5EEAD4"/>
                </a:solidFill>
                <a:latin typeface="Segoe UI"/>
              </a:rPr>
              <a:t>•  Algorithm confusion</a:t>
            </a:r>
            <a:r>
              <a:rPr sz="1650" b="0">
                <a:solidFill>
                  <a:srgbClr val="E8ECF1"/>
                </a:solidFill>
                <a:latin typeface="Segoe UI"/>
              </a:rPr>
              <a:t> — pinned at registration, never trusted from the request</a:t>
            </a:r>
          </a:p>
          <a:p>
            <a:pPr>
              <a:spcAft>
                <a:spcPts val="2000"/>
              </a:spcAft>
            </a:pPr>
            <a:r>
              <a:rPr sz="1650" b="1">
                <a:solidFill>
                  <a:srgbClr val="5EEAD4"/>
                </a:solidFill>
                <a:latin typeface="Segoe UI"/>
              </a:rPr>
              <a:t>•  Identity resolution</a:t>
            </a:r>
            <a:r>
              <a:rPr sz="1650" b="0">
                <a:solidFill>
                  <a:srgbClr val="E8ECF1"/>
                </a:solidFill>
                <a:latin typeface="Segoe UI"/>
              </a:rPr>
              <a:t> — always from which credential signed, never from a client-claimed username</a:t>
            </a:r>
          </a:p>
          <a:p>
            <a:pPr>
              <a:spcAft>
                <a:spcPts val="2000"/>
              </a:spcAft>
            </a:pPr>
            <a:r>
              <a:rPr sz="1650" b="1">
                <a:solidFill>
                  <a:srgbClr val="5EEAD4"/>
                </a:solidFill>
                <a:latin typeface="Segoe UI"/>
              </a:rPr>
              <a:t>•  Counter regression</a:t>
            </a:r>
            <a:r>
              <a:rPr sz="1650" b="0">
                <a:solidFill>
                  <a:srgbClr val="E8ECF1"/>
                </a:solidFill>
                <a:latin typeface="Segoe UI"/>
              </a:rPr>
              <a:t> — flagged as a suspected clone, not silently accepted</a:t>
            </a:r>
          </a:p>
          <a:p>
            <a:pPr>
              <a:spcAft>
                <a:spcPts val="2000"/>
              </a:spcAft>
            </a:pPr>
            <a:r>
              <a:rPr sz="1650" b="1">
                <a:solidFill>
                  <a:srgbClr val="5EEAD4"/>
                </a:solidFill>
                <a:latin typeface="Segoe UI"/>
              </a:rPr>
              <a:t>•  Non-canonical CBOR</a:t>
            </a:r>
            <a:r>
              <a:rPr sz="1650" b="0">
                <a:solidFill>
                  <a:srgbClr val="E8ECF1"/>
                </a:solidFill>
                <a:latin typeface="Segoe UI"/>
              </a:rPr>
              <a:t> — rejected by construction (shortest-form integers, sorted map keys), not a special-case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57784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9AA4B2"/>
                </a:solidFill>
                <a:latin typeface="Consolas"/>
              </a:rPr>
              <a:t>tests/negative/negative_test.go — the full §9.3 suite, all sixteen cases, each asserting the specific rejection reason.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~/zero-deps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08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zero-dependencies, by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Two packages replaced. Every Go WebAuthn library depends on both.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5740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go-webauthn/webauthn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057400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5EEAD4"/>
                </a:solidFill>
                <a:latin typeface="Segoe U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57400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  <a:latin typeface="Consolas"/>
              </a:rPr>
              <a:t>hand-written ceremonies (internal/ceremony)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791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fxamacker/cbor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679192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5EEAD4"/>
                </a:solidFill>
                <a:latin typeface="Segoe U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679192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  <a:latin typeface="Consolas"/>
              </a:rPr>
              <a:t>hand-written CTAP2 canonical decoder, ~360 lines (internal/cbor)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0098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golang-jwt/jwt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300984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5EEAD4"/>
                </a:solidFill>
                <a:latin typeface="Segoe UI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300984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  <a:latin typeface="Consolas"/>
              </a:rPr>
              <a:t>crypto/hmac + crypto/sha256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22776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gin / chi / gorilla/mux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922776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5EEAD4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20640" y="3922776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  <a:latin typeface="Consolas"/>
              </a:rPr>
              <a:t>net/http Go 1.22+ method+pattern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544568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E8ECF1"/>
                </a:solidFill>
                <a:latin typeface="Consolas"/>
              </a:rPr>
              <a:t>spf13/cobra + pflag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544568"/>
            <a:ext cx="4572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5EEAD4"/>
                </a:solidFill>
                <a:latin typeface="Segoe U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544568"/>
            <a:ext cx="64922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86EFAC"/>
                </a:solidFill>
                <a:latin typeface="Consolas"/>
              </a:rPr>
              <a:t>flag + hand-rolled dispatch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AA4B2"/>
                </a:solidFill>
                <a:latin typeface="Segoe UI"/>
              </a:rPr>
              <a:t>Full rationale for all sixteen substitutions, real trade-offs disclosed, in STDLIB.md.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~/rigor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09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engineering-rigor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Proven, not promised.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1828800"/>
            <a:ext cx="2606040" cy="146304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920240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5EEAD4"/>
                </a:solidFill>
                <a:latin typeface="Consolas"/>
              </a:rPr>
              <a:t>253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6517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E8ECF1"/>
                </a:solidFill>
                <a:latin typeface="Segoe UI"/>
              </a:rPr>
              <a:t>tests passing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9AA4B2"/>
                </a:solidFill>
                <a:latin typeface="Segoe UI"/>
              </a:rPr>
              <a:t>13 packages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828800"/>
            <a:ext cx="2606040" cy="146304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920240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5EEAD4"/>
                </a:solidFill>
                <a:latin typeface="Consola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6517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E8ECF1"/>
                </a:solidFill>
                <a:latin typeface="Segoe UI"/>
              </a:rPr>
              <a:t>data races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9AA4B2"/>
                </a:solidFill>
                <a:latin typeface="Segoe UI"/>
              </a:rPr>
              <a:t>verified via Docker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1828800"/>
            <a:ext cx="2606040" cy="146304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0" y="1920240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5EEAD4"/>
                </a:solidFill>
                <a:latin typeface="Consolas"/>
              </a:rPr>
              <a:t>~980K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26517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E8ECF1"/>
                </a:solidFill>
                <a:latin typeface="Segoe UI"/>
              </a:rPr>
              <a:t>fuzz execs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9AA4B2"/>
                </a:solidFill>
                <a:latin typeface="Segoe UI"/>
              </a:rPr>
              <a:t>10s run, 0 crashes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0" y="1828800"/>
            <a:ext cx="2606040" cy="146304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0" y="1920240"/>
            <a:ext cx="260604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5EEAD4"/>
                </a:solidFill>
                <a:latin typeface="Consolas"/>
              </a:rPr>
              <a:t>8.51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2651760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E8ECF1"/>
                </a:solidFill>
                <a:latin typeface="Segoe UI"/>
              </a:rPr>
              <a:t>Docker image</a:t>
            </a:r>
          </a:p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9AA4B2"/>
                </a:solidFill>
                <a:latin typeface="Segoe UI"/>
              </a:rPr>
              <a:t>scratch-based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703320"/>
            <a:ext cx="10881360" cy="265176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200"/>
              </a:spcAft>
            </a:pPr>
            <a:r>
              <a:rPr sz="1400">
                <a:solidFill>
                  <a:srgbClr val="E8ECF1"/>
                </a:solidFill>
                <a:latin typeface="Segoe UI"/>
              </a:rPr>
              <a:t>•  Negative-test suite — 16 named security-defect rejections, each with its own PASS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8ECF1"/>
                </a:solidFill>
                <a:latin typeface="Segoe UI"/>
              </a:rPr>
              <a:t>•  Real-binary e2e suite — builds and runs the actual compiled binary over real HTTP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8ECF1"/>
                </a:solidFill>
                <a:latin typeface="Segoe UI"/>
              </a:rPr>
              <a:t>•  Native Go fuzzing against the hand-written CBOR decoder — the one piece of parsing code standing in front of every credential check</a:t>
            </a:r>
          </a:p>
          <a:p>
            <a:pPr>
              <a:spcAft>
                <a:spcPts val="1200"/>
              </a:spcAft>
            </a:pPr>
            <a:r>
              <a:rPr sz="1400">
                <a:solidFill>
                  <a:srgbClr val="E8ECF1"/>
                </a:solidFill>
                <a:latin typeface="Segoe UI"/>
              </a:rPr>
              <a:t>•  Reproducible build flags documented in BUILD.md — not claimed as a second bonus, since bonuses don't stack under this event's rules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~/honesty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10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honesty-as-a-feature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We publish the cost, not just the win.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011680"/>
            <a:ext cx="5394960" cy="14173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2140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6EFAC"/>
                </a:solidFill>
                <a:latin typeface="Consolas"/>
              </a:rPr>
              <a:t>WIN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50592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8ECF1"/>
                </a:solidFill>
                <a:latin typeface="Segoe UI"/>
              </a:rPr>
              <a:t>"Verification is fast": 26–62µs raw signature verification regardless of algorithm, measured via go test -bench, published in BUILD.md.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5394960" cy="14173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12140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B462"/>
                </a:solidFill>
                <a:latin typeface="Consolas"/>
              </a:rPr>
              <a:t>LOSS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50592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8ECF1"/>
                </a:solidFill>
                <a:latin typeface="Segoe UI"/>
              </a:rPr>
              <a:t>"Durability is what costs": a full Login() call costs ~9ms, almost entirely the fsync'd atomic write UpdateSignCount performs on every login.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11880"/>
            <a:ext cx="5394960" cy="14173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72160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86EFAC"/>
                </a:solidFill>
                <a:latin typeface="Consolas"/>
              </a:rPr>
              <a:t>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50791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8ECF1"/>
                </a:solidFill>
                <a:latin typeface="Segoe UI"/>
              </a:rPr>
              <a:t>Real-browser verification (Chromium via Playwright/CDP) caught and fixed a real bug before shipping: /register/begin wasn't requesting a discoverable credential.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3611880"/>
            <a:ext cx="5394960" cy="1417320"/>
          </a:xfrm>
          <a:prstGeom prst="rect">
            <a:avLst/>
          </a:prstGeom>
          <a:solidFill>
            <a:srgbClr val="0F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372160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8B462"/>
                </a:solidFill>
                <a:latin typeface="Consolas"/>
              </a:rPr>
              <a:t>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50791"/>
            <a:ext cx="5029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E8ECF1"/>
                </a:solidFill>
                <a:latin typeface="Segoe UI"/>
              </a:rPr>
              <a:t>No real Touch ID, Windows Hello, or hardware security key has touched this code yet — stated plainly in the README's own warning, not hidden.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~/compliance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11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hackathon-compliance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Track E's criteria — and the one bonus we actually claim.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11680"/>
            <a:ext cx="365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6EFAC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1168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E8ECF1"/>
                </a:solidFill>
                <a:latin typeface="Segoe UI"/>
              </a:rPr>
              <a:t>Public repo, MIT license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2011680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Eligibility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96312"/>
            <a:ext cx="365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6EFAC"/>
                </a:solidFill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49631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E8ECF1"/>
                </a:solidFill>
                <a:latin typeface="Segoe UI"/>
              </a:rPr>
              <a:t>Single-command build (go build ./cmd/vouchsafe)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496312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Functionality 35%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80944"/>
            <a:ext cx="365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6EFAC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980944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E8ECF1"/>
                </a:solidFill>
                <a:latin typeface="Segoe UI"/>
              </a:rPr>
              <a:t>Empty manifest (go.mod, no require block)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980944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Craft 30%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465576"/>
            <a:ext cx="365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6EFAC"/>
                </a:solidFill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65576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E8ECF1"/>
                </a:solidFill>
                <a:latin typeface="Segoe UI"/>
              </a:rPr>
              <a:t>Dependency proof (go list -m all + empty go mod graph)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465576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Craft 30%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950208"/>
            <a:ext cx="365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6EFAC"/>
                </a:solidFill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50208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E8ECF1"/>
                </a:solidFill>
                <a:latin typeface="Segoe UI"/>
              </a:rPr>
              <a:t>README: relying-party framing, frozen scope, limits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950208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Functionality / Quality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434840"/>
            <a:ext cx="365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6EFAC"/>
                </a:solidFill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34840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E8ECF1"/>
                </a:solidFill>
                <a:latin typeface="Segoe UI"/>
              </a:rPr>
              <a:t>STDLIB.md: sixteen substitutions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434840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Craft 30% + Package Killer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4919472"/>
            <a:ext cx="3657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86EFAC"/>
                </a:solidFill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19472"/>
            <a:ext cx="6858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0">
                <a:solidFill>
                  <a:srgbClr val="E8ECF1"/>
                </a:solidFill>
                <a:latin typeface="Segoe UI"/>
              </a:rPr>
              <a:t>Security evidence: negative-test output + fuzz count, committed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4919472"/>
            <a:ext cx="35661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Quality 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5742432"/>
            <a:ext cx="111556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EAD4"/>
                </a:solidFill>
                <a:latin typeface="Segoe UI"/>
              </a:rPr>
              <a:t>Declared bonus: Package Killer (+3) — go-webauthn/webauthn and its own dependency fxamacker/cbor both die, stacked. Bonuses don't stack under this event's rules — this is the one we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12064"/>
          </a:xfrm>
          <a:prstGeom prst="rect">
            <a:avLst/>
          </a:prstGeom>
          <a:solidFill>
            <a:srgbClr val="12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"/>
            <a:ext cx="12191695" cy="27432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65760" y="182880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3504" y="182880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182880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5720"/>
            <a:ext cx="73152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50" b="1">
                <a:solidFill>
                  <a:srgbClr val="86EFAC"/>
                </a:solidFill>
                <a:latin typeface="Consolas"/>
              </a:rPr>
              <a:t>neuralknights@vouchsafe</a:t>
            </a:r>
            <a:r>
              <a:rPr sz="1350" b="0">
                <a:solidFill>
                  <a:srgbClr val="9AA4B2"/>
                </a:solidFill>
                <a:latin typeface="Consolas"/>
              </a:rPr>
              <a:t>:</a:t>
            </a:r>
            <a:r>
              <a:rPr sz="1350" b="0">
                <a:solidFill>
                  <a:srgbClr val="7DD3FC"/>
                </a:solidFill>
                <a:latin typeface="Consolas"/>
              </a:rPr>
              <a:t>~/next</a:t>
            </a:r>
            <a:r>
              <a:rPr sz="1350" b="0">
                <a:solidFill>
                  <a:srgbClr val="9AA4B2"/>
                </a:solidFill>
                <a:latin typeface="Consolas"/>
              </a:rPr>
              <a:t> $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45720"/>
            <a:ext cx="219456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9AA4B2"/>
                </a:solidFill>
                <a:latin typeface="Consolas"/>
              </a:rPr>
              <a:t>slide 12 / 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85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9AA4B2"/>
                </a:solidFill>
                <a:latin typeface="Consolas"/>
              </a:rPr>
              <a:t>// </a:t>
            </a:r>
            <a:r>
              <a:rPr sz="1400" b="1">
                <a:solidFill>
                  <a:srgbClr val="5EEAD4"/>
                </a:solidFill>
                <a:latin typeface="Consolas"/>
              </a:rPr>
              <a:t>honest-limits — what's still missing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078992"/>
            <a:ext cx="111556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>
                <a:solidFill>
                  <a:srgbClr val="E8ECF1"/>
                </a:solidFill>
                <a:latin typeface="Segoe UI"/>
              </a:rPr>
              <a:t>Nothing hidden. A short, real list.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803136"/>
            <a:ext cx="12191695" cy="18288"/>
          </a:xfrm>
          <a:prstGeom prst="rect">
            <a:avLst/>
          </a:prstGeom>
          <a:solidFill>
            <a:srgbClr val="222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9AA4B2"/>
                </a:solidFill>
                <a:latin typeface="Consolas"/>
              </a:rPr>
              <a:t>vouchsafe · Team Neural Knights · Track E —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11155680" cy="329184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8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No real hardware authenticator has touched this code yet — Touch ID, Windows Hello, or a security key, still needed before relying on this in front of anyone</a:t>
            </a:r>
          </a:p>
          <a:p>
            <a:pPr>
              <a:spcAft>
                <a:spcPts val="18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FIDO Metadata Service, enterprise attestation, U2F/CTAP1 legacy compatibility — permanently out of scope, not a partial implementation</a:t>
            </a:r>
          </a:p>
          <a:p>
            <a:pPr>
              <a:spcAft>
                <a:spcPts val="18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--tls generates a fresh self-signed certificate every startup — fine for a demo, not for anything needing long-term trust</a:t>
            </a:r>
          </a:p>
          <a:p>
            <a:pPr>
              <a:spcAft>
                <a:spcPts val="1800"/>
              </a:spcAft>
            </a:pPr>
            <a:r>
              <a:rPr sz="1550">
                <a:solidFill>
                  <a:srgbClr val="E8ECF1"/>
                </a:solidFill>
                <a:latin typeface="Segoe UI"/>
              </a:rPr>
              <a:t>•  Account recovery and a full user-management UI beyond credential list/revoke — not built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669280"/>
            <a:ext cx="111556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9AA4B2"/>
                </a:solidFill>
                <a:latin typeface="Segoe UI"/>
              </a:rPr>
              <a:t>Every one of these is stated plainly in the README's own Limits and Frozen Scope sections — never a silent gap.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D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8288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2860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27432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32004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36576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41148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45720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50292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54864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5943600"/>
            <a:ext cx="12191695" cy="9144"/>
          </a:xfrm>
          <a:prstGeom prst="rect">
            <a:avLst/>
          </a:prstGeom>
          <a:solidFill>
            <a:srgbClr val="1320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5074920"/>
            <a:ext cx="12191695" cy="4572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1874519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Segoe UI"/>
              </a:rPr>
              <a:t>Thank you.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C3CCDA"/>
                </a:solidFill>
                <a:latin typeface="Segoe UI"/>
              </a:rPr>
              <a:t>vouchsafe — passkey login, zero dependencies.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7033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6EFAC"/>
                </a:solidFill>
                <a:latin typeface="Consolas"/>
              </a:rPr>
              <a:t>go build ./cmd/vouchsafe &amp;&amp; ./vouchsafe serve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394960"/>
            <a:ext cx="457200" cy="457200"/>
          </a:xfrm>
          <a:prstGeom prst="ellipse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"/>
              </a:rPr>
              <a:t>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39496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Team Neural Knights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9AA4B2"/>
                </a:solidFill>
                <a:latin typeface="Consolas"/>
              </a:rPr>
              <a:t>github.com/jay-opensource/Vouchsafe  ·  Zero Dependency Hackathon 2026  ·  Track E — Security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